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9" r:id="rId2"/>
  </p:sldIdLst>
  <p:sldSz cx="9144000" cy="6858000" type="screen4x3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AAA35"/>
    <a:srgbClr val="C85019"/>
    <a:srgbClr val="58595B"/>
    <a:srgbClr val="27AF43"/>
    <a:srgbClr val="ADEFE1"/>
    <a:srgbClr val="BCC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4" autoAdjust="0"/>
    <p:restoredTop sz="80344" autoAdjust="0"/>
  </p:normalViewPr>
  <p:slideViewPr>
    <p:cSldViewPr>
      <p:cViewPr varScale="1">
        <p:scale>
          <a:sx n="90" d="100"/>
          <a:sy n="90" d="100"/>
        </p:scale>
        <p:origin x="25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48541-0051-4326-9BB2-B1DA5D4A1E8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B000C-FA56-42D2-9236-45C27CF7C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00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68052" y="1296000"/>
            <a:ext cx="8424000" cy="5202000"/>
          </a:xfrm>
          <a:prstGeom prst="rect">
            <a:avLst/>
          </a:prstGeom>
          <a:solidFill>
            <a:srgbClr val="3AA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60000" y="360000"/>
            <a:ext cx="84240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492" y="450384"/>
            <a:ext cx="4500962" cy="46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35" y="260648"/>
            <a:ext cx="2262106" cy="7200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005230"/>
            <a:ext cx="382378" cy="28405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1695681"/>
            <a:ext cx="8423637" cy="6480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4000" b="1" kern="1200" cap="all" spc="200" baseline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 dirty="0"/>
              <a:t>&lt;PRESENTATION TITLE&gt;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59999" y="2861878"/>
            <a:ext cx="84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en-US" sz="2000" b="1" spc="100" baseline="0" dirty="0" smtClean="0">
                <a:solidFill>
                  <a:srgbClr val="FFFFFF"/>
                </a:solidFill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nl-BE" sz="1800" dirty="0"/>
            </a:lvl5pPr>
          </a:lstStyle>
          <a:p>
            <a:pPr marL="0" lvl="0" algn="ctr"/>
            <a:r>
              <a:rPr lang="en-GB" noProof="0" dirty="0"/>
              <a:t>&lt;Subtitle&gt;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080000" y="6001318"/>
            <a:ext cx="698400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en-US" sz="1250" b="1" spc="30" baseline="0" dirty="0" smtClean="0">
                <a:solidFill>
                  <a:srgbClr val="FFFFFF"/>
                </a:solidFill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nl-BE" sz="1800" dirty="0"/>
            </a:lvl5pPr>
          </a:lstStyle>
          <a:p>
            <a:pPr marL="0" lvl="0" algn="ctr"/>
            <a:r>
              <a:rPr lang="en-GB" noProof="0" dirty="0"/>
              <a:t>&lt;SOME OTHER TEXT&gt;</a:t>
            </a:r>
          </a:p>
        </p:txBody>
      </p:sp>
    </p:spTree>
    <p:extLst>
      <p:ext uri="{BB962C8B-B14F-4D97-AF65-F5344CB8AC3E}">
        <p14:creationId xmlns:p14="http://schemas.microsoft.com/office/powerpoint/2010/main" val="400389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634716"/>
            <a:ext cx="8424000" cy="5863698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360000" y="360000"/>
            <a:ext cx="84240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492" y="450384"/>
            <a:ext cx="4500962" cy="46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35" y="260648"/>
            <a:ext cx="2262106" cy="7200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005230"/>
            <a:ext cx="382378" cy="28405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1695681"/>
            <a:ext cx="8423637" cy="6480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4000" b="1" kern="1200" cap="all" spc="200" baseline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 dirty="0"/>
              <a:t>&lt;PRESENTATION TITLE&gt;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59999" y="2861878"/>
            <a:ext cx="84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en-US" sz="2000" b="1" spc="100" baseline="0" dirty="0" smtClean="0">
                <a:solidFill>
                  <a:srgbClr val="FFFFFF"/>
                </a:solidFill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nl-BE" sz="1800" dirty="0"/>
            </a:lvl5pPr>
          </a:lstStyle>
          <a:p>
            <a:pPr marL="0" lvl="0" algn="ctr"/>
            <a:r>
              <a:rPr lang="en-GB" noProof="0" dirty="0"/>
              <a:t>&lt;Subtitle&gt;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080000" y="6001318"/>
            <a:ext cx="698400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en-US" sz="1250" b="1" spc="30" baseline="0" dirty="0" smtClean="0">
                <a:solidFill>
                  <a:srgbClr val="FFFFFF"/>
                </a:solidFill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nl-BE" sz="1800" dirty="0"/>
            </a:lvl5pPr>
          </a:lstStyle>
          <a:p>
            <a:pPr marL="0" lvl="0" algn="ctr"/>
            <a:r>
              <a:rPr lang="en-GB" noProof="0" dirty="0"/>
              <a:t>&lt;SOME OTHER TEXT&gt;</a:t>
            </a:r>
          </a:p>
        </p:txBody>
      </p:sp>
    </p:spTree>
    <p:extLst>
      <p:ext uri="{BB962C8B-B14F-4D97-AF65-F5344CB8AC3E}">
        <p14:creationId xmlns:p14="http://schemas.microsoft.com/office/powerpoint/2010/main" val="366989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/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60000" y="360000"/>
            <a:ext cx="8424000" cy="6138000"/>
          </a:xfrm>
          <a:prstGeom prst="rect">
            <a:avLst/>
          </a:prstGeom>
          <a:solidFill>
            <a:srgbClr val="3AA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005230"/>
            <a:ext cx="382378" cy="2840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6"/>
          <a:stretch/>
        </p:blipFill>
        <p:spPr>
          <a:xfrm>
            <a:off x="467543" y="5690497"/>
            <a:ext cx="1872209" cy="553142"/>
          </a:xfrm>
          <a:prstGeom prst="rect">
            <a:avLst/>
          </a:prstGeom>
        </p:spPr>
      </p:pic>
      <p:sp>
        <p:nvSpPr>
          <p:cNvPr id="1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1695681"/>
            <a:ext cx="8423637" cy="6480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4000" b="1" kern="1200" cap="all" spc="200" baseline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 dirty="0"/>
              <a:t>&lt;CHAPTER TITLE&gt;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59999" y="3489966"/>
            <a:ext cx="84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en-US" sz="2000" b="1" spc="100" baseline="0" dirty="0" smtClean="0">
                <a:solidFill>
                  <a:srgbClr val="FFFFFF"/>
                </a:solidFill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nl-BE" sz="1800" dirty="0"/>
            </a:lvl5pPr>
          </a:lstStyle>
          <a:p>
            <a:pPr marL="0" lvl="0" algn="ctr"/>
            <a:r>
              <a:rPr lang="en-GB" noProof="0" dirty="0"/>
              <a:t>&lt;Subtitle&gt;</a:t>
            </a:r>
          </a:p>
        </p:txBody>
      </p:sp>
    </p:spTree>
    <p:extLst>
      <p:ext uri="{BB962C8B-B14F-4D97-AF65-F5344CB8AC3E}">
        <p14:creationId xmlns:p14="http://schemas.microsoft.com/office/powerpoint/2010/main" val="5653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60000" y="360000"/>
            <a:ext cx="84240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60000" y="1296000"/>
            <a:ext cx="8424000" cy="5202000"/>
          </a:xfrm>
          <a:prstGeom prst="rect">
            <a:avLst/>
          </a:prstGeom>
          <a:solidFill>
            <a:srgbClr val="3AA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492" y="450384"/>
            <a:ext cx="4500962" cy="46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35" y="260648"/>
            <a:ext cx="2262106" cy="7200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005230"/>
            <a:ext cx="382378" cy="284052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467544" y="2276872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spc="100" noProof="0" dirty="0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11560" y="587817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 err="1">
                <a:solidFill>
                  <a:srgbClr val="FFFFFF"/>
                </a:solidFill>
              </a:rPr>
              <a:t>Sciensano</a:t>
            </a:r>
            <a:r>
              <a:rPr lang="en-GB" sz="1200" b="1" noProof="0" dirty="0">
                <a:solidFill>
                  <a:srgbClr val="FFFFFF"/>
                </a:solidFill>
              </a:rPr>
              <a:t> </a:t>
            </a:r>
            <a:r>
              <a:rPr lang="en-GB" sz="1200" noProof="0" dirty="0">
                <a:solidFill>
                  <a:schemeClr val="accent3"/>
                </a:solidFill>
              </a:rPr>
              <a:t>•</a:t>
            </a:r>
            <a:r>
              <a:rPr lang="en-GB" sz="1200" noProof="0" dirty="0">
                <a:solidFill>
                  <a:srgbClr val="FFFFFF"/>
                </a:solidFill>
              </a:rPr>
              <a:t> Rue Juliette </a:t>
            </a:r>
            <a:r>
              <a:rPr lang="en-GB" sz="1200" noProof="0" dirty="0" err="1">
                <a:solidFill>
                  <a:srgbClr val="FFFFFF"/>
                </a:solidFill>
              </a:rPr>
              <a:t>Wytsmanstraat</a:t>
            </a:r>
            <a:r>
              <a:rPr lang="en-GB" sz="1200" noProof="0" dirty="0">
                <a:solidFill>
                  <a:srgbClr val="FFFFFF"/>
                </a:solidFill>
              </a:rPr>
              <a:t> 14 </a:t>
            </a:r>
            <a:r>
              <a:rPr lang="en-GB" sz="1200" noProof="0" dirty="0">
                <a:solidFill>
                  <a:schemeClr val="accent3"/>
                </a:solidFill>
              </a:rPr>
              <a:t>• </a:t>
            </a:r>
            <a:r>
              <a:rPr lang="en-GB" sz="1200" noProof="0" dirty="0">
                <a:solidFill>
                  <a:srgbClr val="FFFFFF"/>
                </a:solidFill>
              </a:rPr>
              <a:t>1050 Brussels </a:t>
            </a:r>
            <a:r>
              <a:rPr lang="en-GB" sz="1200" noProof="0" dirty="0">
                <a:solidFill>
                  <a:schemeClr val="accent3"/>
                </a:solidFill>
              </a:rPr>
              <a:t>• </a:t>
            </a:r>
            <a:r>
              <a:rPr lang="en-GB" sz="1200" noProof="0" dirty="0">
                <a:solidFill>
                  <a:srgbClr val="FFFFFF"/>
                </a:solidFill>
              </a:rPr>
              <a:t>Belgium</a:t>
            </a:r>
            <a:br>
              <a:rPr lang="en-GB" sz="1200" noProof="0" dirty="0">
                <a:solidFill>
                  <a:srgbClr val="FFFFFF"/>
                </a:solidFill>
              </a:rPr>
            </a:br>
            <a:r>
              <a:rPr lang="en-GB" sz="1200" noProof="0" dirty="0">
                <a:solidFill>
                  <a:srgbClr val="FFFFFF"/>
                </a:solidFill>
              </a:rPr>
              <a:t>T +32 2 642 51 11</a:t>
            </a:r>
            <a:r>
              <a:rPr lang="en-GB" sz="1200" noProof="0" dirty="0">
                <a:solidFill>
                  <a:schemeClr val="accent3"/>
                </a:solidFill>
              </a:rPr>
              <a:t> • </a:t>
            </a:r>
            <a:r>
              <a:rPr lang="en-GB" sz="1200" noProof="0" dirty="0">
                <a:solidFill>
                  <a:srgbClr val="FFFFFF"/>
                </a:solidFill>
              </a:rPr>
              <a:t>T Press +32 2 642 54 20 </a:t>
            </a:r>
            <a:r>
              <a:rPr lang="en-GB" sz="1200" noProof="0" dirty="0">
                <a:solidFill>
                  <a:schemeClr val="accent3"/>
                </a:solidFill>
              </a:rPr>
              <a:t>• </a:t>
            </a:r>
            <a:r>
              <a:rPr lang="en-GB" sz="1200" noProof="0" dirty="0">
                <a:solidFill>
                  <a:srgbClr val="FFFFFF"/>
                </a:solidFill>
              </a:rPr>
              <a:t>info@sciensano.be </a:t>
            </a:r>
            <a:r>
              <a:rPr lang="en-GB" sz="1200" noProof="0" dirty="0">
                <a:solidFill>
                  <a:schemeClr val="accent3"/>
                </a:solidFill>
              </a:rPr>
              <a:t>• </a:t>
            </a:r>
            <a:r>
              <a:rPr lang="en-GB" sz="1200" noProof="0" dirty="0">
                <a:solidFill>
                  <a:srgbClr val="FFFFFF"/>
                </a:solidFill>
              </a:rPr>
              <a:t>www.sciensano.be </a:t>
            </a:r>
          </a:p>
        </p:txBody>
      </p:sp>
    </p:spTree>
    <p:extLst>
      <p:ext uri="{BB962C8B-B14F-4D97-AF65-F5344CB8AC3E}">
        <p14:creationId xmlns:p14="http://schemas.microsoft.com/office/powerpoint/2010/main" val="115090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60000" y="1368000"/>
            <a:ext cx="8424000" cy="475200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BCCF00"/>
              </a:buClr>
              <a:buNone/>
              <a:defRPr sz="2000" spc="30" baseline="0"/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238218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60000" y="1368000"/>
            <a:ext cx="8424000" cy="4752000"/>
          </a:xfrm>
          <a:prstGeom prst="rect">
            <a:avLst/>
          </a:prstGeom>
        </p:spPr>
        <p:txBody>
          <a:bodyPr/>
          <a:lstStyle>
            <a:lvl1pPr>
              <a:buClr>
                <a:srgbClr val="BCCF00"/>
              </a:buClr>
              <a:defRPr sz="2000" spc="30" baseline="0"/>
            </a:lvl1pPr>
            <a:lvl2pPr marL="742950" indent="-285750">
              <a:buFont typeface="Arial" panose="020B0604020202020204" pitchFamily="34" charset="0"/>
              <a:buChar char="•"/>
              <a:defRPr lang="en-US" sz="2000" kern="1200" spc="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2000" spc="30" baseline="0"/>
            </a:lvl3pPr>
          </a:lstStyle>
          <a:p>
            <a:pPr lvl="0"/>
            <a:r>
              <a:rPr lang="en-GB" noProof="0" dirty="0"/>
              <a:t>&lt;Click to add text&gt;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403502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60000" y="1368000"/>
            <a:ext cx="8424000" cy="4752000"/>
          </a:xfrm>
          <a:prstGeom prst="rect">
            <a:avLst/>
          </a:prstGeom>
        </p:spPr>
        <p:txBody>
          <a:bodyPr/>
          <a:lstStyle>
            <a:lvl1pPr>
              <a:buClr>
                <a:srgbClr val="BCCF00"/>
              </a:buClr>
              <a:buFont typeface="+mj-lt"/>
              <a:buAutoNum type="arabicPeriod"/>
              <a:defRPr sz="2000" b="0" baseline="0"/>
            </a:lvl1pPr>
            <a:lvl2pPr marL="800100" indent="-342900">
              <a:buFont typeface="+mj-lt"/>
              <a:buAutoNum type="arabicPeriod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buFont typeface="+mj-lt"/>
              <a:buAutoNum type="arabicPeriod"/>
              <a:defRPr sz="2000"/>
            </a:lvl3pPr>
          </a:lstStyle>
          <a:p>
            <a:pPr lvl="0"/>
            <a:r>
              <a:rPr lang="en-GB" noProof="0" dirty="0"/>
              <a:t>&lt;Click to add text&gt;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357653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log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60000" y="1368000"/>
            <a:ext cx="8424000" cy="4644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BCCF00"/>
              </a:buClr>
              <a:buNone/>
              <a:defRPr sz="2000" baseline="0"/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4" name="Picture Placeholder 3"/>
          <p:cNvSpPr>
            <a:spLocks noGrp="1" noChangeAspect="1"/>
          </p:cNvSpPr>
          <p:nvPr>
            <p:ph type="pic" sz="quarter" idx="11"/>
          </p:nvPr>
        </p:nvSpPr>
        <p:spPr>
          <a:xfrm>
            <a:off x="7452320" y="6093296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5" name="Picture Placeholder 3"/>
          <p:cNvSpPr>
            <a:spLocks noGrp="1" noChangeAspect="1"/>
          </p:cNvSpPr>
          <p:nvPr>
            <p:ph type="pic" sz="quarter" idx="12"/>
          </p:nvPr>
        </p:nvSpPr>
        <p:spPr>
          <a:xfrm>
            <a:off x="6660232" y="6093296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Picture Placeholder 3"/>
          <p:cNvSpPr>
            <a:spLocks noGrp="1" noChangeAspect="1"/>
          </p:cNvSpPr>
          <p:nvPr>
            <p:ph type="pic" sz="quarter" idx="13"/>
          </p:nvPr>
        </p:nvSpPr>
        <p:spPr>
          <a:xfrm>
            <a:off x="5868144" y="6093296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Picture Placeholder 3"/>
          <p:cNvSpPr>
            <a:spLocks noGrp="1" noChangeAspect="1"/>
          </p:cNvSpPr>
          <p:nvPr>
            <p:ph type="pic" sz="quarter" idx="14"/>
          </p:nvPr>
        </p:nvSpPr>
        <p:spPr>
          <a:xfrm>
            <a:off x="5076056" y="6093296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53551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60000" y="1368000"/>
            <a:ext cx="8424000" cy="442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" baseline="0"/>
            </a:lvl1pPr>
          </a:lstStyle>
          <a:p>
            <a:r>
              <a:rPr lang="en-GB" noProof="0" dirty="0"/>
              <a:t>&lt;insert image&gt;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5817486"/>
            <a:ext cx="8424000" cy="3141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 spc="30" baseline="0">
                <a:solidFill>
                  <a:srgbClr val="3AAA35"/>
                </a:solidFill>
              </a:defRPr>
            </a:lvl1pPr>
          </a:lstStyle>
          <a:p>
            <a:pPr lvl="0"/>
            <a:r>
              <a:rPr lang="en-GB" noProof="0" dirty="0"/>
              <a:t>&lt;caption&gt;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2008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60000" y="1368000"/>
            <a:ext cx="3960000" cy="475200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BCCF00"/>
              </a:buClr>
              <a:buNone/>
              <a:defRPr sz="2000" spc="30" baseline="0"/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1" hasCustomPrompt="1"/>
          </p:nvPr>
        </p:nvSpPr>
        <p:spPr>
          <a:xfrm>
            <a:off x="4824000" y="1368000"/>
            <a:ext cx="3960000" cy="475200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BCCF00"/>
              </a:buClr>
              <a:buNone/>
              <a:defRPr sz="2000" spc="30" baseline="0"/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153087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360000" y="1764000"/>
            <a:ext cx="3960000" cy="432000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BCCF00"/>
              </a:buClr>
              <a:buNone/>
              <a:defRPr sz="2000" spc="30" baseline="0"/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1" hasCustomPrompt="1"/>
          </p:nvPr>
        </p:nvSpPr>
        <p:spPr>
          <a:xfrm>
            <a:off x="4824000" y="1764000"/>
            <a:ext cx="3960000" cy="432000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BCCF00"/>
              </a:buClr>
              <a:buNone/>
              <a:defRPr sz="2000" spc="30" baseline="0"/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360000" y="1368000"/>
            <a:ext cx="3960000" cy="360039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BCCF00"/>
              </a:buClr>
              <a:buFont typeface="Arial" panose="020B0604020202020204" pitchFamily="34" charset="0"/>
              <a:buNone/>
              <a:defRPr sz="2200" b="1" baseline="0">
                <a:solidFill>
                  <a:srgbClr val="BCCF00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buFont typeface="Arial" panose="020B0604020202020204" pitchFamily="34" charset="0"/>
              <a:buChar char="–"/>
              <a:defRPr sz="1800"/>
            </a:lvl3pPr>
          </a:lstStyle>
          <a:p>
            <a:pPr lvl="0"/>
            <a:r>
              <a:rPr lang="en-GB" noProof="0" dirty="0"/>
              <a:t>&lt;Click to add text&gt;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4824000" y="1368000"/>
            <a:ext cx="3960000" cy="360039"/>
          </a:xfrm>
          <a:prstGeom prst="rect">
            <a:avLst/>
          </a:prstGeom>
        </p:spPr>
        <p:txBody>
          <a:bodyPr/>
          <a:lstStyle>
            <a:lvl1pPr marL="342900" indent="-342900">
              <a:buNone/>
              <a:defRPr lang="en-US" sz="2200" b="1" baseline="0" dirty="0" smtClean="0">
                <a:solidFill>
                  <a:srgbClr val="BCCF00"/>
                </a:solidFill>
              </a:defRPr>
            </a:lvl1pPr>
          </a:lstStyle>
          <a:p>
            <a:pPr marL="0" lvl="0" indent="0">
              <a:buClr>
                <a:srgbClr val="BCCF00"/>
              </a:buClr>
            </a:pPr>
            <a:r>
              <a:rPr lang="en-GB" noProof="0" dirty="0"/>
              <a:t>&lt;Click to add text&gt;</a:t>
            </a:r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8424000" cy="936000"/>
          </a:xfrm>
          <a:prstGeom prst="rect">
            <a:avLst/>
          </a:prstGeom>
        </p:spPr>
        <p:txBody>
          <a:bodyPr anchor="ctr"/>
          <a:lstStyle>
            <a:lvl1pPr algn="l">
              <a:defRPr sz="2750" b="1" cap="none" spc="200" baseline="0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&lt;Click to add title&gt;</a:t>
            </a:r>
          </a:p>
        </p:txBody>
      </p:sp>
    </p:spTree>
    <p:extLst>
      <p:ext uri="{BB962C8B-B14F-4D97-AF65-F5344CB8AC3E}">
        <p14:creationId xmlns:p14="http://schemas.microsoft.com/office/powerpoint/2010/main" val="46233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921" y="6205309"/>
            <a:ext cx="385327" cy="2862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1" t="16628" r="5303" b="20393"/>
          <a:stretch/>
        </p:blipFill>
        <p:spPr>
          <a:xfrm>
            <a:off x="360000" y="6205309"/>
            <a:ext cx="1256870" cy="2862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0000" y="360000"/>
            <a:ext cx="8424000" cy="936000"/>
          </a:xfrm>
          <a:prstGeom prst="rect">
            <a:avLst/>
          </a:prstGeom>
          <a:solidFill>
            <a:srgbClr val="3AA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33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9" r:id="rId2"/>
    <p:sldLayoutId id="2147483649" r:id="rId3"/>
    <p:sldLayoutId id="2147483654" r:id="rId4"/>
    <p:sldLayoutId id="2147483650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llmer.tidyverse.org/" TargetMode="External"/><Relationship Id="rId2" Type="http://schemas.openxmlformats.org/officeDocument/2006/relationships/hyperlink" Target="https://appsilon.github.io/shiny.i18n/index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carlganz/rintrojs" TargetMode="External"/><Relationship Id="rId4" Type="http://schemas.openxmlformats.org/officeDocument/2006/relationships/hyperlink" Target="https://rstudio.github.io/bslib/reference/nav_selec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82F5E72-C00B-417D-AFEB-1B307DE0390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43014767"/>
              </p:ext>
            </p:extLst>
          </p:nvPr>
        </p:nvGraphicFramePr>
        <p:xfrm>
          <a:off x="360363" y="1368425"/>
          <a:ext cx="8423274" cy="4480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11637">
                  <a:extLst>
                    <a:ext uri="{9D8B030D-6E8A-4147-A177-3AD203B41FA5}">
                      <a16:colId xmlns:a16="http://schemas.microsoft.com/office/drawing/2014/main" val="442045513"/>
                    </a:ext>
                  </a:extLst>
                </a:gridCol>
                <a:gridCol w="4211637">
                  <a:extLst>
                    <a:ext uri="{9D8B030D-6E8A-4147-A177-3AD203B41FA5}">
                      <a16:colId xmlns:a16="http://schemas.microsoft.com/office/drawing/2014/main" val="3454953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Block 1 – Translation of data and shiny app</a:t>
                      </a:r>
                      <a:endParaRPr lang="en-B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Translation script that translates the data based on an input, and also translated the website (</a:t>
                      </a:r>
                      <a:r>
                        <a:rPr lang="en-US" b="0" dirty="0">
                          <a:hlinkClick r:id="rId2"/>
                        </a:rPr>
                        <a:t>https://</a:t>
                      </a:r>
                      <a:r>
                        <a:rPr lang="en-US" b="0" dirty="0" err="1">
                          <a:hlinkClick r:id="rId2"/>
                        </a:rPr>
                        <a:t>appsilon.github.io</a:t>
                      </a:r>
                      <a:r>
                        <a:rPr lang="en-US" b="0" dirty="0">
                          <a:hlinkClick r:id="rId2"/>
                        </a:rPr>
                        <a:t>/shiny.i18n/</a:t>
                      </a:r>
                      <a:r>
                        <a:rPr lang="en-US" b="0" dirty="0" err="1">
                          <a:hlinkClick r:id="rId2"/>
                        </a:rPr>
                        <a:t>index.html</a:t>
                      </a:r>
                      <a:r>
                        <a:rPr lang="en-US" b="0" dirty="0"/>
                        <a:t> or other package).</a:t>
                      </a:r>
                      <a:endParaRPr lang="en-B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73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 2 – Implement AI queries to explore dataset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 the newest functions of </a:t>
                      </a:r>
                      <a:r>
                        <a:rPr lang="en-US" dirty="0" err="1"/>
                        <a:t>ellmer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shinybot</a:t>
                      </a:r>
                      <a:r>
                        <a:rPr lang="en-US" dirty="0"/>
                        <a:t> (</a:t>
                      </a:r>
                      <a:r>
                        <a:rPr lang="en-US" dirty="0">
                          <a:hlinkClick r:id="rId3"/>
                        </a:rPr>
                        <a:t>https://</a:t>
                      </a:r>
                      <a:r>
                        <a:rPr lang="en-US" dirty="0" err="1">
                          <a:hlinkClick r:id="rId3"/>
                        </a:rPr>
                        <a:t>ellmer.tidyverse.org</a:t>
                      </a:r>
                      <a:r>
                        <a:rPr lang="en-US" dirty="0">
                          <a:hlinkClick r:id="rId3"/>
                        </a:rPr>
                        <a:t>/</a:t>
                      </a:r>
                      <a:r>
                        <a:rPr lang="en-US" dirty="0"/>
                        <a:t>) and build a first prompt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28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 3 – Create clickable links to tabs + mobile-friendly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</a:t>
                      </a:r>
                      <a:r>
                        <a:rPr lang="en-US" dirty="0" err="1"/>
                        <a:t>nav_select</a:t>
                      </a:r>
                      <a:r>
                        <a:rPr lang="en-US" dirty="0"/>
                        <a:t> within </a:t>
                      </a:r>
                      <a:r>
                        <a:rPr lang="en-US" dirty="0" err="1"/>
                        <a:t>bslib</a:t>
                      </a:r>
                      <a:r>
                        <a:rPr lang="en-US" dirty="0"/>
                        <a:t> to create clickable links (</a:t>
                      </a:r>
                      <a:r>
                        <a:rPr lang="en-US" dirty="0">
                          <a:hlinkClick r:id="rId4"/>
                        </a:rPr>
                        <a:t>https://</a:t>
                      </a:r>
                      <a:r>
                        <a:rPr lang="en-US" dirty="0" err="1">
                          <a:hlinkClick r:id="rId4"/>
                        </a:rPr>
                        <a:t>rstudio.github.io</a:t>
                      </a:r>
                      <a:r>
                        <a:rPr lang="en-US" dirty="0">
                          <a:hlinkClick r:id="rId4"/>
                        </a:rPr>
                        <a:t>/</a:t>
                      </a:r>
                      <a:r>
                        <a:rPr lang="en-US" dirty="0" err="1">
                          <a:hlinkClick r:id="rId4"/>
                        </a:rPr>
                        <a:t>bslib</a:t>
                      </a:r>
                      <a:r>
                        <a:rPr lang="en-US" dirty="0">
                          <a:hlinkClick r:id="rId4"/>
                        </a:rPr>
                        <a:t>/reference/</a:t>
                      </a:r>
                      <a:r>
                        <a:rPr lang="en-US" dirty="0" err="1">
                          <a:hlinkClick r:id="rId4"/>
                        </a:rPr>
                        <a:t>nav_select.html</a:t>
                      </a:r>
                      <a:r>
                        <a:rPr lang="en-US" dirty="0"/>
                        <a:t>)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 4 – implementing tutorial in Shiny application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of </a:t>
                      </a:r>
                      <a:r>
                        <a:rPr lang="en-US" dirty="0" err="1"/>
                        <a:t>IntroJS</a:t>
                      </a:r>
                      <a:r>
                        <a:rPr lang="en-US" dirty="0"/>
                        <a:t> (</a:t>
                      </a:r>
                      <a:r>
                        <a:rPr lang="en-US" dirty="0">
                          <a:hlinkClick r:id="rId5"/>
                        </a:rPr>
                        <a:t>https://</a:t>
                      </a:r>
                      <a:r>
                        <a:rPr lang="en-US" dirty="0" err="1">
                          <a:hlinkClick r:id="rId5"/>
                        </a:rPr>
                        <a:t>github.com</a:t>
                      </a:r>
                      <a:r>
                        <a:rPr lang="en-US" dirty="0">
                          <a:hlinkClick r:id="rId5"/>
                        </a:rPr>
                        <a:t>/</a:t>
                      </a:r>
                      <a:r>
                        <a:rPr lang="en-US" dirty="0" err="1">
                          <a:hlinkClick r:id="rId5"/>
                        </a:rPr>
                        <a:t>carlganz</a:t>
                      </a:r>
                      <a:r>
                        <a:rPr lang="en-US" dirty="0">
                          <a:hlinkClick r:id="rId5"/>
                        </a:rPr>
                        <a:t>/</a:t>
                      </a:r>
                      <a:r>
                        <a:rPr lang="en-US" dirty="0" err="1">
                          <a:hlinkClick r:id="rId5"/>
                        </a:rPr>
                        <a:t>rintrojs</a:t>
                      </a:r>
                      <a:r>
                        <a:rPr lang="en-US" dirty="0"/>
                        <a:t>)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213671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13230703-F882-4695-945A-8910780B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(1) </a:t>
            </a:r>
            <a:r>
              <a:rPr lang="fr-BE" dirty="0" err="1"/>
              <a:t>Adjusting</a:t>
            </a:r>
            <a:r>
              <a:rPr lang="fr-BE" dirty="0"/>
              <a:t> DALY </a:t>
            </a:r>
            <a:r>
              <a:rPr lang="fr-BE" dirty="0" err="1"/>
              <a:t>Shiny</a:t>
            </a:r>
            <a:r>
              <a:rPr lang="fr-BE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243005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Presentation43">
  <a:themeElements>
    <a:clrScheme name="Sciensano">
      <a:dk1>
        <a:srgbClr val="58595B"/>
      </a:dk1>
      <a:lt1>
        <a:srgbClr val="FFFFFF"/>
      </a:lt1>
      <a:dk2>
        <a:srgbClr val="006633"/>
      </a:dk2>
      <a:lt2>
        <a:srgbClr val="3AAA35"/>
      </a:lt2>
      <a:accent1>
        <a:srgbClr val="3AAA35"/>
      </a:accent1>
      <a:accent2>
        <a:srgbClr val="006633"/>
      </a:accent2>
      <a:accent3>
        <a:srgbClr val="BCCF00"/>
      </a:accent3>
      <a:accent4>
        <a:srgbClr val="FAD500"/>
      </a:accent4>
      <a:accent5>
        <a:srgbClr val="F29D00"/>
      </a:accent5>
      <a:accent6>
        <a:srgbClr val="C85019"/>
      </a:accent6>
      <a:hlink>
        <a:srgbClr val="58595B"/>
      </a:hlink>
      <a:folHlink>
        <a:srgbClr val="3AAA35"/>
      </a:folHlink>
    </a:clrScheme>
    <a:fontScheme name="Sciensan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Presentation43UK</Template>
  <TotalTime>10928</TotalTime>
  <Words>144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Presentation43</vt:lpstr>
      <vt:lpstr>(1) Adjusting DALY Shiny app</vt:lpstr>
    </vt:vector>
  </TitlesOfParts>
  <Company>SCIENSANO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EpiTuesdays@sciensano.be</dc:creator>
  <cp:lastModifiedBy>Robby De Pauw</cp:lastModifiedBy>
  <cp:revision>193</cp:revision>
  <dcterms:created xsi:type="dcterms:W3CDTF">2020-06-10T11:27:53Z</dcterms:created>
  <dcterms:modified xsi:type="dcterms:W3CDTF">2025-12-16T13:49:32Z</dcterms:modified>
</cp:coreProperties>
</file>